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73152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5600" b="1">
                <a:solidFill>
                  <a:srgbClr val="F8FAFC"/>
                </a:solidFill>
              </a:defRPr>
            </a:pPr>
            <a:r>
              <a:t>数学SRS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2600" b="0">
                <a:solidFill>
                  <a:srgbClr val="60A5FA"/>
                </a:solidFill>
              </a:defRPr>
            </a:pPr>
            <a:r>
              <a:t>高中数学间隔重复学习系统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64748B"/>
                </a:solidFill>
              </a:defRPr>
            </a:pPr>
            <a:r>
              <a:t>基于 SM-2 算法的局域网学习工具。Mac 运行后端，iPad / 手机浏览器访问。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46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5B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73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855F7"/>
                </a:solidFill>
              </a:defRPr>
            </a:pPr>
            <a:r>
              <a:t>React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4846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5B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4873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855F7"/>
                </a:solidFill>
              </a:defRPr>
            </a:pPr>
            <a: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846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5B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4873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855F7"/>
                </a:solidFill>
              </a:defRPr>
            </a:pPr>
            <a:r>
              <a:t>SQLite WAL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4846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5B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4873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855F7"/>
                </a:solidFill>
              </a:defRPr>
            </a:pPr>
            <a:r>
              <a:t>KaTeX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846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5B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4873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855F7"/>
                </a:solidFill>
              </a:defRPr>
            </a:pPr>
            <a:r>
              <a:t>Tailwind CSS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5B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873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A855F7"/>
                </a:solidFill>
              </a:defRPr>
            </a:pPr>
            <a:r>
              <a:t>TypeScript 6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914400"/>
            <a:ext cx="3200400" cy="3200400"/>
          </a:xfrm>
          <a:prstGeom prst="ellipse">
            <a:avLst/>
          </a:prstGeom>
          <a:solidFill>
            <a:srgbClr val="0A2A50"/>
          </a:solidFill>
          <a:ln w="12700">
            <a:solidFill>
              <a:srgbClr val="0A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1463040"/>
            <a:ext cx="2286000" cy="2286000"/>
          </a:xfrm>
          <a:prstGeom prst="ellipse">
            <a:avLst/>
          </a:prstGeom>
          <a:solidFill>
            <a:srgbClr val="1A0A33"/>
          </a:solidFill>
          <a:ln w="12700">
            <a:solidFill>
              <a:srgbClr val="2A1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214884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2600" b="1">
                <a:solidFill>
                  <a:srgbClr val="A855F7"/>
                </a:solidFill>
              </a:defRPr>
            </a:pPr>
            <a:r>
              <a:t>6 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64748B"/>
                </a:solidFill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React 19 → FastAPI → SQLite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全栈 TypeScript +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554480"/>
            <a:ext cx="214884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2600" b="1">
                <a:solidFill>
                  <a:srgbClr val="60A5FA"/>
                </a:solidFill>
              </a:defRPr>
            </a:pPr>
            <a:r>
              <a:t>双模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64748B"/>
                </a:solidFill>
              </a:defRPr>
            </a:pPr>
            <a:r>
              <a:t>数据源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浏览笔记 (Markdown) +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复习题库 (Scheme 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554480"/>
            <a:ext cx="214884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2600" b="1">
                <a:solidFill>
                  <a:srgbClr val="22D3EE"/>
                </a:solidFill>
              </a:defRPr>
            </a:pPr>
            <a:r>
              <a:t>多端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64748B"/>
                </a:solidFill>
              </a:defRPr>
            </a:pPr>
            <a:r>
              <a:t>访问端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Mac 服务端 + iPad / iPhone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浏览器局域网访问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E2E8F0"/>
                </a:solidFill>
              </a:defRPr>
            </a:pPr>
            <a:r>
              <a:t>7 维学习笔记 × 2 种题型 × SM-2 算法</a:t>
            </a:r>
          </a:p>
          <a:p>
            <a:pPr>
              <a:spcAft>
                <a:spcPts val="200"/>
              </a:spcAft>
              <a:defRPr sz="14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 b="0">
                <a:solidFill>
                  <a:srgbClr val="E2E8F0"/>
                </a:solidFill>
              </a:defRPr>
            </a:pPr>
            <a:r>
              <a:t>每张卡片覆盖 7 个认知维度：核心概念、解题策略、易错点、几何直觉、多维原理、知识关联、挑战题。</a:t>
            </a:r>
          </a:p>
          <a:p>
            <a:pPr>
              <a:spcAft>
                <a:spcPts val="200"/>
              </a:spcAft>
              <a:defRPr sz="1400" b="0">
                <a:solidFill>
                  <a:srgbClr val="E2E8F0"/>
                </a:solidFill>
              </a:defRPr>
            </a:pPr>
            <a:r>
              <a:t>填空 (Cloze) 与选择 (Choice) 两种题型，覆盖精确记忆与识别判断。</a:t>
            </a:r>
          </a:p>
          <a:p>
            <a:pPr>
              <a:spcAft>
                <a:spcPts val="200"/>
              </a:spcAft>
              <a:defRPr sz="1400" b="0">
                <a:solidFill>
                  <a:srgbClr val="E2E8F0"/>
                </a:solidFill>
              </a:defRPr>
            </a:pPr>
            <a:r>
              <a:t>SM-2 算法自动调度复习间隔，效率最大化。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技术架构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68580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A855F7"/>
                </a:solidFill>
              </a:defRPr>
            </a:pPr>
            <a:r>
              <a:t>iPad / Mac 浏览器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64748B"/>
                </a:solidFill>
              </a:defRPr>
            </a:pPr>
            <a:r>
              <a:t>SPA · React 19 · Vite · Tailwind CSS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68580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60A5FA"/>
                </a:solidFill>
              </a:defRPr>
            </a:pPr>
            <a:r>
              <a:t>HTTP REST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64748B"/>
                </a:solidFill>
              </a:defRPr>
            </a:pPr>
            <a:r>
              <a:t>FastAPI · uvicorn · CORS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68580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22D3EE"/>
                </a:solidFill>
              </a:defRPr>
            </a:pPr>
            <a:r>
              <a:t>业务逻辑层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64748B"/>
                </a:solidFill>
              </a:defRPr>
            </a:pPr>
            <a:r>
              <a:t>SM-2 算法 · Import/Export · Detexify 符号识别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39"/>
            <a:ext cx="68580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5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FBBF24"/>
                </a:solidFill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64748B"/>
                </a:solidFill>
              </a:defRPr>
            </a:pPr>
            <a:r>
              <a:t>SQLite WAL · cards / srs_state / review_log 三表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4747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727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4748B"/>
                </a:solidFill>
              </a:defRPr>
            </a:pPr>
            <a:r>
              <a:t>前端模块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60A5FA"/>
                </a:solidFill>
              </a:defRPr>
            </a:pPr>
            <a:r>
              <a:t>15 组件 + 2K+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286000"/>
            <a:ext cx="34747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3042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4748B"/>
                </a:solidFill>
              </a:defRPr>
            </a:pPr>
            <a:r>
              <a:t>后端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14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60A5FA"/>
                </a:solidFill>
              </a:defRPr>
            </a:pPr>
            <a:r>
              <a:t>18 个 REST 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4747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0358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4748B"/>
                </a:solidFill>
              </a:defRPr>
            </a:pPr>
            <a:r>
              <a:t>测试覆盖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60A5FA"/>
                </a:solidFill>
              </a:defRPr>
            </a:pPr>
            <a:r>
              <a:t>62 个 (pytest + vitest)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双数据源设计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A855F7"/>
                </a:solidFill>
              </a:defRPr>
            </a:pPr>
            <a:r>
              <a:t>📖 浏览卡片 — 学习笔记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存储: public/data/browse/*.json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格式: Markdown + KaTeX 数学公式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7 个内容维度: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📖 核心概念 — 定义、公理、符号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🧠 解题策略 — SOP 标准步骤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⚠️ 易错点 — 常见错误 + 辨析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💡 多维原理 — 代数/几何/逻辑视角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🧪 经典例题 — 例题 + 完整解答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🔗 知识关联 — 跨章节连接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🕸 思维挑战 — 拔高题与拓展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3035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60A5FA"/>
                </a:solidFill>
              </a:defRPr>
            </a:pPr>
            <a:r>
              <a:t>🧠 复习卡片 — SRS 题库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存储: SQLite cards 表 ← cards.json seed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格式: Scheme B (cloze + choice)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2 种测试题型: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✏️ 填空 (Cloze) — 精确回忆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   `x = [[1]]，y = [[2]]` → 填入答案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🔘 选择 (Choice) — 识别判断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   4 选项 · Fisher-Yates 乱序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SM-2 算法自动调度复习: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正确 → 间隔延长 · 错误 → 重置为 1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FBBF24"/>
                </a:solidFill>
              </a:defRPr>
            </a:pPr>
            <a:r>
              <a:t>💡 双源独立：浏览用于学习理解，复习用于记忆巩固。数据通过 textbook.json 中的章节 ID 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SM-2 间隔重复算法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02920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A855F7"/>
                </a:solidFill>
              </a:defRPr>
            </a:pPr>
            <a:r>
              <a:t>算法规则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评分: 3 (正确) / 0 (错误)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正确时: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首次复习 → interval = 1 天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第二次 → interval = 6 天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第三次+ → interval = max(1, int(interval × ef))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ease_factor += 0.1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错误时: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interval 重置为 1 天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reps 归零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ease_factor -= 0.2 (下限 1.3)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08760"/>
            <a:ext cx="530352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60A5FA"/>
                </a:solidFill>
              </a:defRPr>
            </a:pPr>
            <a:r>
              <a:t>示例: 集合的概念 (01-01)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Day 1 — 首次复习「核心定义」→ ✅ 正确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       interval=1, ef=2.6, reps=1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Day 2 — 第二次复习「核心定义」→ ✅ 正确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       interval=6, ef=2.7, reps=2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Day 8 — 第三次复习 → ✅ 正确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       interval=ceil(6×2.7)=17, ef=2.8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Day 25 — 第 4 次复习 → ❌ 错误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       interval=1, ef=2.6, reps=0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63440"/>
            <a:ext cx="1060704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22D3EE"/>
                </a:solidFill>
              </a:defRPr>
            </a:pPr>
            <a:r>
              <a:t>间隔增长曲线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</a:defRPr>
            </a:pPr>
            <a:r>
              <a:t>正确复习 → 间隔指数级增长。首次 1 天 → 第 5 次 125 天 → 约 4 个月后再次复习。</a:t>
            </a:r>
          </a:p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</a:defRPr>
            </a:pPr>
            <a:r>
              <a:t>一次错误 → 间隔重置为 1 天，效率损失约 99%。精准记忆是关键。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浏览模式 — 7 维学习笔记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核心概念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集合定义: 元素 ∈ / ∉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互异性/无序性/确定性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508760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60A5FA"/>
                </a:solidFill>
              </a:defRPr>
            </a:pPr>
            <a:r>
              <a:t>解题策略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数学语言翻译法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自然语言 → 集合运算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508760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FB7185"/>
                </a:solidFill>
              </a:defRPr>
            </a:pPr>
            <a:r>
              <a:t>易错点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∅ 与 {0} 的区别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∈ 与 ⊆ 的混用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508760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8B5CF6"/>
                </a:solidFill>
              </a:defRPr>
            </a:pPr>
            <a:r>
              <a:t>多维原理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交换律: A∪B = B∪A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德摩根律: ∁(A∩B)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63239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4ADE80"/>
                </a:solidFill>
              </a:defRPr>
            </a:pPr>
            <a:r>
              <a:t>经典例题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例: A={1,2}, B={1,3}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求A∪B = {1,2,3}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063239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22D3EE"/>
                </a:solidFill>
              </a:defRPr>
            </a:pPr>
            <a:r>
              <a:t>知识关联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集合 → 不等式解集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集合 → 函数定义域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3063239"/>
            <a:ext cx="14630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15727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E2E8F0"/>
                </a:solidFill>
              </a:defRPr>
            </a:pPr>
            <a:r>
              <a:t>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1572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FBBF24"/>
                </a:solidFill>
              </a:defRPr>
            </a:pPr>
            <a:r>
              <a:t>思维挑战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19019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集合中元素个数</a:t>
            </a:r>
          </a:p>
          <a:p>
            <a:pPr>
              <a:spcAft>
                <a:spcPts val="200"/>
              </a:spcAft>
              <a:defRPr sz="900" b="0">
                <a:solidFill>
                  <a:srgbClr val="E2E8F0"/>
                </a:solidFill>
              </a:defRPr>
            </a:pPr>
            <a:r>
              <a:t>容斥原理: |A∪B|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1508760"/>
            <a:ext cx="4206240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1645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A855F7"/>
                </a:solidFill>
              </a:defRPr>
            </a:pPr>
            <a:r>
              <a:t>📐 课本目录树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011680"/>
            <a:ext cx="3840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▼ 📖 第一册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▼ 第一章 集合与常用逻辑用语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  📖 01-01 集合的概念         ←已选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  📖 01-02 集合间的基本关系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      01-03 集合的基本运算    ←灰色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点击节编号 → 7 维网格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点击维度方格 → 全宽详情页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→ Markdown + KaTeX 公式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→ 上/下节导航按钮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示例: 01-01「核心概念」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→ 集合三特征 + ∈/∉ 符号 + 常用数集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复习模式 — 完整流程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0116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2A154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A855F7"/>
                </a:solidFill>
              </a:defRPr>
            </a:pPr>
            <a:r>
              <a:t>选题页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7 维网格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绿=✅ 已掌握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红=❌ 未通过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灰=待复习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508760"/>
            <a:ext cx="20116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6080" y="1600200"/>
            <a:ext cx="320040" cy="320040"/>
          </a:xfrm>
          <a:prstGeom prst="ellipse">
            <a:avLst/>
          </a:prstGeom>
          <a:solidFill>
            <a:srgbClr val="2A154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27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A855F7"/>
                </a:solidFill>
              </a:defRPr>
            </a:pPr>
            <a:r>
              <a:t>40s 预览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显示题目+答案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进度条倒计时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记忆黄金期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508760"/>
            <a:ext cx="20116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20640" y="1600200"/>
            <a:ext cx="320040" cy="320040"/>
          </a:xfrm>
          <a:prstGeom prst="ellipse">
            <a:avLst/>
          </a:prstGeom>
          <a:solidFill>
            <a:srgbClr val="2A154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627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A855F7"/>
                </a:solidFill>
              </a:defRPr>
            </a:pPr>
            <a:r>
              <a:t>进入测试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Cloze: 填空输入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Choice: 点击选择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1508760"/>
            <a:ext cx="20116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199" y="1600200"/>
            <a:ext cx="320040" cy="320040"/>
          </a:xfrm>
          <a:prstGeom prst="ellipse">
            <a:avLst/>
          </a:prstGeom>
          <a:solidFill>
            <a:srgbClr val="2A154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1627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A855F7"/>
                </a:solidFill>
              </a:defRPr>
            </a:pPr>
            <a:r>
              <a:t>即时评分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全对 = 3 分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有错 = 0 分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SM-2 更新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1508760"/>
            <a:ext cx="20116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1600200"/>
            <a:ext cx="320040" cy="320040"/>
          </a:xfrm>
          <a:prstGeom prst="ellipse">
            <a:avLst/>
          </a:prstGeom>
          <a:solidFill>
            <a:srgbClr val="2A154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627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A855F7"/>
                </a:solidFill>
              </a:defRPr>
            </a:pPr>
            <a:r>
              <a:t>自动流转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→ 下一维度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→ 下一张卡片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→ 复习完成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114800"/>
            <a:ext cx="53035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FB7185"/>
                </a:solidFill>
              </a:defRPr>
            </a:pPr>
            <a:r>
              <a:t>安全限制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测试阶段强制禁用: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Ctrl+V / Cmd+V — 禁止粘贴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Ctrl+C / Cmd+C — 禁止复制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右键菜单 — 禁止 contextmenu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手写草稿板 (Canvas): Apple Pencil 手写演算，切换题目自动清空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114800"/>
            <a:ext cx="53035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4ADE80"/>
                </a:solidFill>
              </a:defRPr>
            </a:pPr>
            <a:r>
              <a:t>全维度完成后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一张卡片 7 维全部通过: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显示「下一张 →」按钮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• 自动加载下一张待复习卡片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全部卡片复习完毕: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 🎉 今日复习完成！没有待复习的卡片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统计: 正确数/总数 + 正确率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题型示例 — Cloze vs Choice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A154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1">
                <a:solidFill>
                  <a:srgbClr val="A855F7"/>
                </a:solidFill>
              </a:defRPr>
            </a:pPr>
            <a:r>
              <a:t>✏️ 填空 (Cloze)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F8FAFC"/>
                </a:solidFill>
              </a:defRPr>
            </a:pPr>
            <a:r>
              <a:t>题: 集合的三个基本特征是 ____、____、____。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4ADE80"/>
                </a:solidFill>
              </a:defRPr>
            </a:pPr>
            <a:r>
              <a:t>✓ 答: 确定性、互异性、无序性</a:t>
            </a:r>
          </a:p>
          <a:p>
            <a:pPr>
              <a:spcAft>
                <a:spcPts val="200"/>
              </a:spcAft>
              <a:defRPr sz="1100" b="0">
                <a:solidFill>
                  <a:srgbClr val="4ADE80"/>
                </a:solidFill>
              </a:defRPr>
            </a:pPr>
            <a:r>
              <a:t>用户输入后 NFKC 归一化: A (U+0041) ≡ Ａ (U+FF21)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</a:defRPr>
            </a:pPr>
            <a:r>
              <a:t>评分: 全部填空正确 → 3 分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</a:defRPr>
            </a:pPr>
            <a:r>
              <a:t>      任意填空错误 → 0 分（显示正确答案）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</a:defRPr>
            </a:pPr>
            <a:r>
              <a:t>答案格式: answer: ["确定性", "互异性", "无序性"]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3035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6459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A2A5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64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70"/>
              </a:spcAft>
              <a:defRPr sz="900" b="1">
                <a:solidFill>
                  <a:srgbClr val="60A5FA"/>
                </a:solidFill>
              </a:defRPr>
            </a:pPr>
            <a:r>
              <a:t>🔘 选择 (Choice)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F8FAFC"/>
                </a:solidFill>
              </a:defRPr>
            </a:pPr>
            <a:r>
              <a:t>题: 下列关系式中正确的是？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A. 0 ∈ ∅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B. ∅ ⊆ {0}          ← 正确答案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C. 0 = ∅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</a:defRPr>
            </a:pPr>
            <a:r>
              <a:t>D. {∅} = 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</a:defRPr>
            </a:pPr>
            <a:r>
              <a:t>评分: 选 B → 3 分 (绿色标注)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</a:defRPr>
            </a:pPr>
            <a:r>
              <a:t>      选 A/C/D → 0 分 (红色标注，正确项标绿)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</a:defRPr>
            </a:pPr>
            <a:r>
              <a:t>选项顺序: Fisher-Yates 随机打乱，每次不同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37760"/>
            <a:ext cx="109270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题型设计原则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Cloze 测试精确回忆（回顾+生成）→ 高认知负荷，加深记忆。Choice 测试识别判断（匹配+区分）→ 低认知负荷，快速验证。两者互补，覆盖完整记忆曲线。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手写识别 + 题库管理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2743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22D3EE"/>
                </a:solidFill>
              </a:defRPr>
            </a:pPr>
            <a:r>
              <a:t>🖊️ 手写符号识别 (Detexify)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Canvas 手写板 → DTW + k-NN 分类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预处理流水线: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去重 → 平滑 → 重采样(32点) → 归一化 → 主方向对齐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分类: 动态时间规整 (DTW) 距离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取 2 个最近样本均值 → top-5 候选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置信度 = 1 / (1 + meanDistance)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训练数据: 200+ 常用 LaTeX 符号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支持 ∈, ⊆, ∪, ∩, ∀, ∃, ∑, ∏, ∂, ∇ 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303520" cy="2743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4ADE80"/>
                </a:solidFill>
              </a:defRPr>
            </a:pPr>
            <a:r>
              <a:t>📊 题库模式 (BankMode)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三张统计卡片: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• 总卡片数 — 题库全部卡片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• 待复习 — 今日到期数量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• 已掌握 — 未到期数量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SRS 状态表格: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ID / 标题 / 分类 / 复习次数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当前间隔 / 难度因子 / 到期日 / 状态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状态指示: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🟤 新卡片 — 从未复习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🟡 待复习 — 今日到期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🟢 已掌握 — 未到期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1092708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FBBF24"/>
                </a:solidFill>
              </a:defRPr>
            </a:pPr>
            <a:r>
              <a:t>📐 数学符号面板 (MathSymbolPad)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6 组符号: 集合 (∈, ⊆, ∪) · 逻辑 (∀, ∃, ∧) · 运算 (±, ×, √) · 比较 (≤, ≥, ≠) · 希腊 (α, β, π) · 角标 (₁, ₂, ³)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点击插入填空输入框，Apple Pencil 友好。Canvas 手写草稿板辅助演算。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A855F7"/>
                </a:solidFill>
              </a:defRPr>
            </a:pPr>
            <a: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F8FAFC"/>
                </a:solidFill>
              </a:defRPr>
            </a:pPr>
            <a:r>
              <a:t>数据管理 + 部署运维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A855F7"/>
                </a:solidFill>
              </a:defRPr>
            </a:pPr>
            <a:r>
              <a:t>📦 导入 / 导出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导入: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• 粘贴 JSON → INSERT OR REPLACE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• 同 ID 覆盖，旧 SRS 状态清除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• 新卡片标记 source="imported"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导出 (4 种格式):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📄 全部卡片 (JSON) — 数据迁移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📊 复习进度 (JSON) — srs + log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📈 复习统计 (CSV) — Excel 可打开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🗜️ 完整备份 (ZIP) — 三合一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3035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60A5FA"/>
                </a:solidFill>
              </a:defRPr>
            </a:pPr>
            <a:r>
              <a:t>🚀 一键部署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启动命令: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$ env PYTHONPATH=. \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  .venv/bin/uvicorn server.main:app \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  --host 0.0.0.0 --port 3000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三部曲: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① python3 -m venv .venv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② pip install -r requirements.txt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③ npm install &amp;&amp; npm run build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数据重置: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  rm data/cards.db* → 重启自动 seed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109270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FBBF24"/>
                </a:solidFill>
              </a:defRPr>
            </a:pPr>
            <a:r>
              <a:t>🌐 局域网访问 + 离线保障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Mac 查看 IP: ipconfig getifaddr en0 → 例如 192.168.1.5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iPad Safari 访问: http://192.168.1.5:3000 → 添加到主屏幕（类 App 体验）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离线检测: 15s 健康检查轮询，离线时黄色横幅提示「仅浏览模式可用」</a:t>
            </a:r>
          </a:p>
          <a:p>
            <a:pPr>
              <a:spcAft>
                <a:spcPts val="200"/>
              </a:spcAft>
              <a:defRPr sz="1000" b="0">
                <a:solidFill>
                  <a:srgbClr val="E2E8F0"/>
                </a:solidFill>
              </a:defRPr>
            </a:pPr>
            <a:r>
              <a:t>SPA fallback: 刷新任意路径不白屏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73152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40"/>
              </a:spcAft>
              <a:defRPr sz="3800" b="1">
                <a:solidFill>
                  <a:srgbClr val="F8FAFC"/>
                </a:solidFill>
              </a:defRPr>
            </a:pPr>
            <a:r>
              <a:t>项目亮点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🧠  科学记忆 — SM-2 算法 + 7 维认知模型，覆盖完整学习曲线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📖  双源独立 — 浏览笔记与复习题库分离，学习与巩固各司其职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🎯  精准测试 — Cloze 精确回忆 + Choice 识别判断，两种题型互补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📐  数学优先 — KaTeX 渲染 + Detexify 手写符号识别 + 符号面板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🌐  零配置部署 — 3 条命令启动，局域网多端访问，SPA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🔒  本地运行 — SQLite WAL 存储，数据不上传，完全隐私安全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🖊️  Apple Pencil — Canvas 手写草稿 + 符号识别，Pad 原生体验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>
                <a:solidFill>
                  <a:srgbClr val="E2E8F0"/>
                </a:solidFill>
              </a:defRPr>
            </a:pPr>
            <a:r>
              <a:t>📊  数据可控 — 4 种导出格式，JSON/CSV/ZIP 自由迁移备份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760720"/>
            <a:ext cx="1092708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338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</a:defRPr>
            </a:pPr>
            <a:r>
              <a:t>React 19  ·  TypeScript 6  ·  Vite 8  ·  FastAPI  ·  SQLite WAL  ·  KaTeX  ·  Tailwind CSS 4  ·  Lucide  ·  pytest  ·  vitest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