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Q1: 现象与问题引入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Arial"/>
              </a:defRPr>
            </a:pPr>
            <a:r>
              <a:t>数学机器的"原料清单"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45720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6FA0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2286000" cy="1828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Arial"/>
              </a:defRPr>
            </a:pPr>
            <a:r>
              <a:t>f(x)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2651760"/>
            <a:ext cx="1828800" cy="5486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2697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  <a:latin typeface="Arial"/>
              </a:defRPr>
            </a:pPr>
            <a:r>
              <a:t>⚠ 禁止投喂非法原料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6FA0"/>
                </a:solidFill>
                <a:latin typeface="Arial"/>
              </a:defRPr>
            </a:pPr>
            <a:r>
              <a:t>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783080"/>
            <a:ext cx="457200" cy="0"/>
          </a:xfrm>
          <a:prstGeom prst="rect">
            <a:avLst/>
          </a:prstGeom>
          <a:ln w="25400">
            <a:solidFill>
              <a:srgbClr val="3B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783080"/>
            <a:ext cx="457200" cy="0"/>
          </a:xfrm>
          <a:prstGeom prst="rect">
            <a:avLst/>
          </a:prstGeom>
          <a:ln w="25400">
            <a:solidFill>
              <a:srgbClr val="3B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Arial"/>
              </a:defRPr>
            </a:pPr>
            <a:r>
              <a:t>起因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Arial"/>
              </a:defRPr>
            </a:pPr>
            <a:r>
              <a:t>公式需要合法输入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Arial"/>
              </a:defRPr>
            </a:pPr>
            <a:r>
              <a:t>冲突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Arial"/>
              </a:defRPr>
            </a:pPr>
            <a:r>
              <a:t>分母为零导致"死机"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Arial"/>
              </a:defRPr>
            </a:pPr>
            <a:r>
              <a:t>指向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Arial"/>
              </a:defRPr>
            </a:pPr>
            <a:r>
              <a:t>建立定义域契约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Q2: 设计初衷与逻辑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Arial"/>
              </a:defRPr>
            </a:pPr>
            <a:r>
              <a:t>确定性协议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4114800" cy="274320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Arial"/>
              </a:defRPr>
            </a:pPr>
            <a:r>
              <a:t>卡片A：无界状态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20240"/>
            <a:ext cx="1306414" cy="2878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3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Arial"/>
              </a:defRPr>
            </a:pPr>
            <a:r>
              <a:t>逻辑冲突：x=0 时等价性断裂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7316"/>
                </a:solidFill>
                <a:latin typeface="Arial"/>
              </a:defRPr>
            </a:pPr>
            <a:r>
              <a:t>不确定的映射 = 函数死亡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371600"/>
            <a:ext cx="4114800" cy="2743200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卡片B：契约状态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920240"/>
            <a:ext cx="1576792" cy="2076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79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Arial"/>
              </a:defRPr>
            </a:pPr>
            <a:r>
              <a:t>定义域锁定边界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A34A"/>
                </a:solidFill>
                <a:latin typeface="Arial"/>
              </a:defRPr>
            </a:pPr>
            <a:r>
              <a:t>每个 x 有唯一存在的 f(x)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Q3: 核心结论与定理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Arial"/>
              </a:defRPr>
            </a:pPr>
            <a:r>
              <a:t>合法生存法则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Arial"/>
              </a:defRPr>
            </a:pPr>
            <a:r>
              <a:t>符号 dom(f)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04659" cy="146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dom(f) 即函数 f 的</a:t>
            </a:r>
            <a:br/>
            <a:r>
              <a:t>合法输入协议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474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Arial"/>
              </a:defRPr>
            </a:pPr>
            <a:r>
              <a:t>五大生存法则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74519"/>
            <a:ext cx="1413717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8056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各算子约束条件</a:t>
            </a:r>
            <a:br/>
            <a:r>
              <a:t>取交集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474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Arial"/>
              </a:defRPr>
            </a:pPr>
            <a:r>
              <a:t>形视识别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74519"/>
            <a:ext cx="762106" cy="1463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看到分式+根式+对数</a:t>
            </a:r>
            <a:br/>
            <a:r>
              <a:t>立即联立不等式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1547239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160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适用前提：函数解析式含有特定算子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核心结论：各算子约束条件的交集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Q4: 解题方法与步骤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A5F"/>
                </a:solidFill>
                <a:latin typeface="Arial"/>
              </a:defRPr>
            </a:pPr>
            <a:r>
              <a:t>SOP：扫描 → 联立 → 求交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01168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Arial"/>
              </a:defRPr>
            </a:pPr>
            <a:r>
              <a:t>法则扫描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识别算子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2651760"/>
            <a:ext cx="274320" cy="0"/>
          </a:xfrm>
          <a:prstGeom prst="rect">
            <a:avLst/>
          </a:prstGeom>
          <a:ln w="25400">
            <a:solidFill>
              <a:srgbClr val="3B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01168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Arial"/>
              </a:defRPr>
            </a:pPr>
            <a:r>
              <a:t>联立方程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写不等式组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651760"/>
            <a:ext cx="274320" cy="0"/>
          </a:xfrm>
          <a:prstGeom prst="rect">
            <a:avLst/>
          </a:prstGeom>
          <a:ln w="25400">
            <a:solidFill>
              <a:srgbClr val="3B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01168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Arial"/>
              </a:defRPr>
            </a:pPr>
            <a:r>
              <a:t>数轴投影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寻找公共区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2651760"/>
            <a:ext cx="274320" cy="0"/>
          </a:xfrm>
          <a:prstGeom prst="rect">
            <a:avLst/>
          </a:prstGeom>
          <a:ln w="25400">
            <a:solidFill>
              <a:srgbClr val="3B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9840" y="201168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34155"/>
                </a:solidFill>
                <a:latin typeface="Arial"/>
              </a:defRPr>
            </a:pPr>
            <a:r>
              <a:t>标准输出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91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rial"/>
              </a:defRPr>
            </a:pPr>
            <a:r>
              <a:t>集合/区间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Arial"/>
              </a:defRPr>
            </a:pPr>
            <a:r>
              <a:t>核心：数轴定位，交集定域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Arial"/>
              </a:defRPr>
            </a:pPr>
            <a:r>
              <a:t>典型例题 1 — 基础示范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0" cy="1188720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2061397" cy="3567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00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结构：分子为算术平方根 (+3&gt;=0)，分母为分式 (x+2!=0)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657600" cy="164592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Arial"/>
              </a:defRPr>
            </a:pPr>
            <a:r>
              <a:t>起点：提取生存法则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686826" cy="1706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1668944" cy="1706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0" y="256032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收敛：数轴合并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017520"/>
            <a:ext cx="1417710" cy="18288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474720"/>
            <a:ext cx="2093517" cy="1828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步骤1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扫描发现根式与分式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步骤2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联立 x&gt;=-3, x!=-2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663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步骤3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数轴求交，挖去-2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Arial"/>
              </a:defRPr>
            </a:pPr>
            <a:r>
              <a:t>典型例题 2 — 综合变式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0" cy="1188720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681456" cy="226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00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结构：复合嵌套 — 分清 x 的范围与"括号内整体"的范围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Arial"/>
              </a:defRPr>
            </a:pPr>
            <a:r>
              <a:t>1. 找协议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2526769" cy="1651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97316"/>
                </a:solidFill>
                <a:latin typeface="Arial"/>
              </a:defRPr>
            </a:pPr>
            <a:r>
              <a:t>这是 f 的真定义域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Arial"/>
              </a:defRPr>
            </a:pPr>
            <a:r>
              <a:t>2. 代入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971800"/>
            <a:ext cx="996312" cy="1663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056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将 sqrt(x) 套入协议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Arial"/>
              </a:defRPr>
            </a:pPr>
            <a:r>
              <a:t>3. 联立收敛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971800"/>
            <a:ext cx="1449948" cy="1651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3383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结合内层 sqrt 约束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480560"/>
            <a:ext cx="235784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Arial"/>
              </a:defRPr>
            </a:pPr>
            <a:r>
              <a:t>巩固练习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梯度一：基础达标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931078" cy="2143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915919" cy="2217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1623029" cy="152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7680" y="1371600"/>
            <a:ext cx="34747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梯度二：高考中档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920240"/>
            <a:ext cx="2942368" cy="24003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834640"/>
            <a:ext cx="781431" cy="1219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38160" y="1371600"/>
            <a:ext cx="34747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Arial"/>
              </a:defRPr>
            </a:pPr>
            <a:r>
              <a:t>梯度三：能力拔高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1920240"/>
            <a:ext cx="1932674" cy="15361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834640"/>
            <a:ext cx="652987" cy="1402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Arial"/>
              </a:defRPr>
            </a:pPr>
            <a:r>
              <a:t>本质与应用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rial"/>
              </a:defRPr>
            </a:pPr>
            <a:r>
              <a:t>生存领地与逻辑边界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分类讨论思想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20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rial"/>
              </a:defRPr>
            </a:pPr>
            <a:r>
              <a:t>化算子生存为不等式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高观点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rial"/>
              </a:defRPr>
            </a:pPr>
            <a:r>
              <a:t>\text{范畴论中函数是"态射"，定义域是"源对象"}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学科内应用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rial"/>
              </a:defRPr>
            </a:pPr>
            <a:r>
              <a:t>\text{单调性、奇偶性、最值分析的前置条件}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Arial"/>
              </a:defRPr>
            </a:pPr>
            <a:r>
              <a:t>跨学科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rial"/>
              </a:defRPr>
            </a:pPr>
            <a:r>
              <a:t>\text{物理建模中的时间范围、计算机参数校验}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0972800" cy="640080"/>
          </a:xfrm>
          <a:prstGeom prst="rect">
            <a:avLst/>
          </a:prstGeom>
          <a:solidFill>
            <a:srgbClr val="F0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2505456" cy="170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Arial"/>
              </a:defRPr>
            </a:pPr>
            <a:r>
              <a:t>知识网络构建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3200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6FA0"/>
                </a:solidFill>
                <a:latin typeface="Arial"/>
              </a:defRPr>
            </a:pPr>
            <a:r>
              <a:t>前置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366522" cy="1402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0" y="2286000"/>
            <a:ext cx="3200400" cy="1645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Arial"/>
              </a:defRPr>
            </a:pPr>
            <a:r>
              <a:t>本级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743200"/>
            <a:ext cx="436245" cy="1402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2286000"/>
            <a:ext cx="3200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6FA0"/>
                </a:solidFill>
                <a:latin typeface="Arial"/>
              </a:defRPr>
            </a:pPr>
            <a:r>
              <a:t>同级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2743200"/>
            <a:ext cx="436245" cy="14020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972800" y="2286000"/>
            <a:ext cx="32004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0" y="23774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6FA0"/>
                </a:solidFill>
                <a:latin typeface="Arial"/>
              </a:defRPr>
            </a:pPr>
            <a:r>
              <a:t>后续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2743200"/>
            <a:ext cx="781183" cy="14020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834640"/>
            <a:ext cx="413005" cy="25603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834640"/>
            <a:ext cx="413005" cy="25603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709160"/>
            <a:ext cx="1852420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